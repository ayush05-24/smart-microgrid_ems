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77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8288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009688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828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Smart Microgrid Energy Management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&amp; Simulink Implementation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52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Bansal (22BEE0248)  &amp;  Ayush Ranjan (22BEE0261)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JANAKI M (12486)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Grade 2, Department of Electrical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53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06040" y="4553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4553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0840" y="4553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82880" cy="1828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3441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electricity demand grows 6% yearly but grid reliability remains poor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182880" cy="1828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02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wind power generation is highly intermittent and hard to predict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88336"/>
            <a:ext cx="182880" cy="1828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660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battery &amp; grid control wastes 30–40% of potential cost savings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46704"/>
            <a:ext cx="182880" cy="1828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319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real-time optimization system for Indian microgrids currently exists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0F9F8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258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85232" y="13716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16093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— R²=0.997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0F9F8"/>
          </a:solidFill>
          <a:ln w="635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800600" y="20116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85232" y="20574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forecasting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2295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model — R²=0.958, MAPE=5.31%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0F9F8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697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85232" y="27432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29809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model — R²=0.896, RMSE=3.18 kW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0F9F8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3832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85232" y="34290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DRL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36667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timesteps — 4.9% cost reduction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206240"/>
            <a:ext cx="8321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24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6040" y="4224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06040" y="4507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Model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40480" y="4224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R²=0.958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0" y="4507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Model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74920" y="4224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R²=0.896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74920" y="4507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4224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09360" y="4507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42245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43800" y="4507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Steps</a:t>
            </a:r>
            <a:endParaRPr lang="en-US" sz="8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A33FA116-B9ED-4663-7D50-00AC1907D42E}"/>
              </a:ext>
            </a:extLst>
          </p:cNvPr>
          <p:cNvSpPr/>
          <p:nvPr/>
        </p:nvSpPr>
        <p:spPr>
          <a:xfrm>
            <a:off x="4937760" y="1524000"/>
            <a:ext cx="182880" cy="18288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0D1D7981-9A00-AF73-AEAC-63DBD36A10CE}"/>
              </a:ext>
            </a:extLst>
          </p:cNvPr>
          <p:cNvSpPr/>
          <p:nvPr/>
        </p:nvSpPr>
        <p:spPr>
          <a:xfrm>
            <a:off x="4937760" y="2218944"/>
            <a:ext cx="182880" cy="18288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1AE55FBB-2CD6-9391-98C4-6D8B25BA5557}"/>
              </a:ext>
            </a:extLst>
          </p:cNvPr>
          <p:cNvSpPr/>
          <p:nvPr/>
        </p:nvSpPr>
        <p:spPr>
          <a:xfrm>
            <a:off x="4937760" y="2921508"/>
            <a:ext cx="182880" cy="18288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23AB5315-364D-5BEA-C79B-7EF95FE268F9}"/>
              </a:ext>
            </a:extLst>
          </p:cNvPr>
          <p:cNvSpPr/>
          <p:nvPr/>
        </p:nvSpPr>
        <p:spPr>
          <a:xfrm>
            <a:off x="4937760" y="3611880"/>
            <a:ext cx="182880" cy="182880"/>
          </a:xfrm>
          <a:prstGeom prst="ellipse">
            <a:avLst/>
          </a:prstGeom>
          <a:solidFill>
            <a:srgbClr val="00968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(2023–2025) — 10+ Papers Reviewed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5331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B2A6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353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" y="13533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energy management in grid-connected microgrids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883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SVR achieving RMSE=1.415 for solar, RMSE=1.749 for wind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261872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0FDF4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35331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41264" y="13533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Eyimaya et al.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 DC Microgrid Optimization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883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LSTM outperforms MLP for load forecasting in DC microgrids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432304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8E1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5237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523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25237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Spiliopoulos et al.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798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Microgrid with DRL — 23% cost reduction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30540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PPO agent achieves 85% renewable utilization, 40% grid reduction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2432304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BE9E7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237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23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41264" y="25237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Mahmoudabadi et al.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798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microgrid coalitions energy management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0540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Two-step ML approach for inter-microgrid power scheduling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02736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EDE7F6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69417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4A148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6941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36941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Silva-Rodriguez et al.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39684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 load forecasting for Solar+Wind microgrids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" y="4224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Temporal LSTM processes fluctuations in demand and generation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3602736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E8F5E9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69417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6941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41264" y="36941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9684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AI &amp; ML for microgrid EMS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4224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Covers ANN, LSTM, RL for centralized and distributed microgrids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Research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710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forecasting — Solar PV &amp; Wind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46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demand prediction using ML models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49424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21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optimization with intelligent control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24912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DRL-based real-time energy management (PPO)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729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 physical simulation (R2024b)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484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ToU pricing (Rs 2.5–8/kWh)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54864" cy="25603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239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NASA POWER 2025 data — Vellore location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9326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This Project Addresses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2984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Most studies: forecasting OR optimization (not both)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15727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Integrated LSTM+SVR forecasting + PPO optimization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1396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Synthetic/simplified data used in papers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24140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Real NASA POWER Vellore 2025 hourly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4436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9809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Tamil Nadu / Indian grid pricing models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32552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ToU tariff (Rs 2.5–8/kWh) in reward function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85616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822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MATLAB–Python ML integration shown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4096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Simulink model built, ML pipeline complete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F0F9F8"/>
          </a:solidFill>
          <a:ln w="762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Design, develop and validate an Intelligent Microgrid EMS using ML that optimizes energy generation, storage and consumption while maximizing renewable utilization and minimizing costs.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82496"/>
            <a:ext cx="402336" cy="402336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1700784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09688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7007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R²=0.997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15798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model — 19 features, clearsky ratio, lag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1536192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1682496"/>
            <a:ext cx="402336" cy="40233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64608" y="1700784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1B2A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7007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R²=0.958 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215798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Forecasting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93008" y="2450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model — 15 features, MAPE=5.31%, RMSE=0.31 m/s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0216" y="1536192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1682496"/>
            <a:ext cx="402336" cy="402336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08976" y="1700784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4A148C"/>
          </a:solidFill>
          <a:ln/>
        </p:spPr>
      </p:sp>
      <p:sp>
        <p:nvSpPr>
          <p:cNvPr id="26" name="Text 24"/>
          <p:cNvSpPr/>
          <p:nvPr/>
        </p:nvSpPr>
        <p:spPr>
          <a:xfrm>
            <a:off x="7808976" y="17007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R²=0.896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37376" y="215798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37376" y="24505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model — 21 features, RMSE=3.18 kW, MAPE=8.15%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108960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255264"/>
            <a:ext cx="402336" cy="402336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920240" y="3273552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09688"/>
          </a:solidFill>
          <a:ln/>
        </p:spPr>
      </p:sp>
      <p:sp>
        <p:nvSpPr>
          <p:cNvPr id="33" name="Text 31"/>
          <p:cNvSpPr/>
          <p:nvPr/>
        </p:nvSpPr>
        <p:spPr>
          <a:xfrm>
            <a:off x="1920240" y="327355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steps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DRL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0233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256→256 neural net, real Gym environment, trained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55848" y="3108960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93008" y="3255264"/>
            <a:ext cx="402336" cy="40233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38" name="Text 36"/>
          <p:cNvSpPr/>
          <p:nvPr/>
        </p:nvSpPr>
        <p:spPr>
          <a:xfrm>
            <a:off x="3493008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64608" y="3273552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1B2A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0" name="Text 38"/>
          <p:cNvSpPr/>
          <p:nvPr/>
        </p:nvSpPr>
        <p:spPr>
          <a:xfrm>
            <a:off x="4864608" y="327355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93008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Model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93008" y="40233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PV, Wind, Battery, Grid — MATLAB R2024b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0216" y="3108960"/>
            <a:ext cx="277977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7376" y="3255264"/>
            <a:ext cx="402336" cy="40233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5" name="Text 43"/>
          <p:cNvSpPr/>
          <p:nvPr/>
        </p:nvSpPr>
        <p:spPr>
          <a:xfrm>
            <a:off x="6437376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08976" y="3273552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546E7A"/>
          </a:solidFill>
          <a:ln/>
        </p:spPr>
      </p:sp>
      <p:sp>
        <p:nvSpPr>
          <p:cNvPr id="47" name="Text 45"/>
          <p:cNvSpPr/>
          <p:nvPr/>
        </p:nvSpPr>
        <p:spPr>
          <a:xfrm>
            <a:off x="7808976" y="327355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37376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37376" y="402336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PPO steps, Simulink-Python integration, report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016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NASA POWER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63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016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344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54680" y="1563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016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Real-Time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1563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54864" cy="32004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81856" y="21488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 ← Completed in Review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2029968" cy="749808"/>
          </a:xfrm>
          <a:prstGeom prst="roundRect">
            <a:avLst>
              <a:gd name="adj" fmla="val 8537"/>
            </a:avLst>
          </a:prstGeom>
          <a:solidFill>
            <a:srgbClr val="00968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7860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94436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78608" y="2578608"/>
            <a:ext cx="2029968" cy="749808"/>
          </a:xfrm>
          <a:prstGeom prst="roundRect">
            <a:avLst>
              <a:gd name="adj" fmla="val 8537"/>
            </a:avLst>
          </a:prstGeom>
          <a:solidFill>
            <a:srgbClr val="1B2A6B"/>
          </a:solidFill>
          <a:ln/>
        </p:spPr>
      </p:sp>
      <p:sp>
        <p:nvSpPr>
          <p:cNvPr id="23" name="Text 21"/>
          <p:cNvSpPr/>
          <p:nvPr/>
        </p:nvSpPr>
        <p:spPr>
          <a:xfrm>
            <a:off x="2578608" y="257860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78608" y="294436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Forecast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R²=0.958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578608"/>
            <a:ext cx="2029968" cy="749808"/>
          </a:xfrm>
          <a:prstGeom prst="roundRect">
            <a:avLst>
              <a:gd name="adj" fmla="val 8537"/>
            </a:avLst>
          </a:prstGeom>
          <a:solidFill>
            <a:srgbClr val="4A148C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257860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294436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R²=0.896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04304" y="2578608"/>
            <a:ext cx="2029968" cy="749808"/>
          </a:xfrm>
          <a:prstGeom prst="roundRect">
            <a:avLst>
              <a:gd name="adj" fmla="val 8537"/>
            </a:avLst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7004304" y="257860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Agent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04304" y="294436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-4.9%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Steps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0" y="33375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3520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Physical Layer  ← In Progress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0F9F8"/>
          </a:solidFill>
          <a:ln w="10160">
            <a:solidFill>
              <a:srgbClr val="0096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/ Simulink Microgrid Model — R2024b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096512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096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67128" y="4096512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/>
        </p:spPr>
      </p:sp>
      <p:sp>
        <p:nvSpPr>
          <p:cNvPr id="38" name="Text 36"/>
          <p:cNvSpPr/>
          <p:nvPr/>
        </p:nvSpPr>
        <p:spPr>
          <a:xfrm>
            <a:off x="2167128" y="4096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31336" y="4096512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/>
        </p:spPr>
      </p:sp>
      <p:sp>
        <p:nvSpPr>
          <p:cNvPr id="40" name="Text 38"/>
          <p:cNvSpPr/>
          <p:nvPr/>
        </p:nvSpPr>
        <p:spPr>
          <a:xfrm>
            <a:off x="3831336" y="4096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kWh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95544" y="4096512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/>
        </p:spPr>
      </p:sp>
      <p:sp>
        <p:nvSpPr>
          <p:cNvPr id="42" name="Text 40"/>
          <p:cNvSpPr/>
          <p:nvPr/>
        </p:nvSpPr>
        <p:spPr>
          <a:xfrm>
            <a:off x="5495544" y="4096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Connect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 Pricing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59752" y="4096512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/>
        </p:spPr>
      </p:sp>
      <p:sp>
        <p:nvSpPr>
          <p:cNvPr id="44" name="Text 42"/>
          <p:cNvSpPr/>
          <p:nvPr/>
        </p:nvSpPr>
        <p:spPr>
          <a:xfrm>
            <a:off x="7159752" y="40965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Mgmt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kW avg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Data Collection &amp; 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Completed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807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80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0432" y="13350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NASA POWER data download — Vellore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8366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836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70432" y="183794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8,760 hourly readings — Solar, Wind, Temp, Humidity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8658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865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70432" y="234086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cleaning — handled -999 missing values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0720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8950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895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28437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engineering — 100+ features created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9242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924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70432" y="334670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EDA — 9-chart analysis, correlation matrix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813048"/>
            <a:ext cx="4114800" cy="402336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5080">
            <a:solidFill>
              <a:srgbClr val="B2DF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953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953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70432" y="38496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Synthetic load profile — Vellore residential pattern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2511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0F9F8"/>
          </a:solidFill>
          <a:ln w="6350">
            <a:solidFill>
              <a:srgbClr val="0096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251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4636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508760" y="43251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08760" y="4636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 peak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14600" y="43251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26.62°C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636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avg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520440" y="43251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20440" y="4636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wind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Insert Charts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63440" y="1594714"/>
            <a:ext cx="4206240" cy="58247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663440" y="3388766"/>
            <a:ext cx="2029968" cy="6496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400953-34EC-A90C-9756-8B63ED30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58088"/>
            <a:ext cx="4206240" cy="177393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5997F27-613A-23B1-34BF-7CE3B839D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70" y="2935072"/>
            <a:ext cx="4125470" cy="2022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ML Forecasting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7889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788920" cy="36576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05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005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3167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251460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19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RMSE=12.99 W/m², MAPE=6.23%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6,098 samples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914400"/>
            <a:ext cx="27889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914400"/>
            <a:ext cx="2788920" cy="3657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005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 Forecasting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100584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1B2A6B"/>
          </a:solidFill>
          <a:ln/>
        </p:spPr>
      </p:sp>
      <p:sp>
        <p:nvSpPr>
          <p:cNvPr id="17" name="Text 15"/>
          <p:cNvSpPr/>
          <p:nvPr/>
        </p:nvSpPr>
        <p:spPr>
          <a:xfrm>
            <a:off x="5321808" y="1005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13167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0.9575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55848" y="1682496"/>
            <a:ext cx="251460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15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RMSE=0.31 m/s, MAPE=5.31%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1,314 samples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914400"/>
            <a:ext cx="274320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914400"/>
            <a:ext cx="2743200" cy="36576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2" name="Text 20"/>
          <p:cNvSpPr/>
          <p:nvPr/>
        </p:nvSpPr>
        <p:spPr>
          <a:xfrm>
            <a:off x="6281928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02168" y="100584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A148C"/>
          </a:solidFill>
          <a:ln/>
        </p:spPr>
      </p:sp>
      <p:sp>
        <p:nvSpPr>
          <p:cNvPr id="24" name="Text 22"/>
          <p:cNvSpPr/>
          <p:nvPr/>
        </p:nvSpPr>
        <p:spPr>
          <a:xfrm>
            <a:off x="8202168" y="1005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81928" y="13167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0.8960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81928" y="1682496"/>
            <a:ext cx="24688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21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RMSE=3.18 kW, MAPE=8.15%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Weekday/weekend patterns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9443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 Charts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575304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39A86B0-6674-EBD4-A8ED-FA28D2405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3" y="3184153"/>
            <a:ext cx="4159897" cy="19083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0409380-907B-A598-44A8-D062CBF67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32107"/>
            <a:ext cx="4224528" cy="1835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— DRL Energy Management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0F9F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81328" y="13350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81328" y="1773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256 → 2 actions (MLP Policy)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0F9F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2212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 — SOC, Solar, Wind, Load, Price, Hour...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 [-1,+1] + Grid preference [0,1]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0F9F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3090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cost + Maximize renewable + SOC health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95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81328" y="35295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completed (target: 500,000)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4114800" cy="347472"/>
          </a:xfrm>
          <a:prstGeom prst="roundRect">
            <a:avLst>
              <a:gd name="adj" fmla="val 10526"/>
            </a:avLst>
          </a:prstGeom>
          <a:solidFill>
            <a:srgbClr val="F0F9F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684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81328" y="39684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 v2.7.1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07408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0F9F8"/>
          </a:solidFill>
          <a:ln w="7620">
            <a:solidFill>
              <a:srgbClr val="0096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07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672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08760" y="4407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4672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Use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14600" y="4407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14600" y="4672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Reduction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20440" y="4407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20440" y="4672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3440" y="9326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Results — Insert Charts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1605686"/>
            <a:ext cx="4206240" cy="6016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175263F-E1E0-D042-C7EE-F2ABBF810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07592"/>
            <a:ext cx="4206240" cy="169237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3142565-4B8A-6F73-9953-B1E6E66CD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090672"/>
            <a:ext cx="4206240" cy="1946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6537960" cy="201168"/>
          </a:xfrm>
          <a:prstGeom prst="roundRect">
            <a:avLst>
              <a:gd name="adj" fmla="val 22727"/>
            </a:avLst>
          </a:prstGeom>
          <a:solidFill>
            <a:srgbClr val="ECEFF1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005840"/>
            <a:ext cx="4251960" cy="201168"/>
          </a:xfrm>
          <a:prstGeom prst="roundRect">
            <a:avLst>
              <a:gd name="adj" fmla="val 22727"/>
            </a:avLst>
          </a:prstGeom>
          <a:solidFill>
            <a:srgbClr val="0096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9509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5486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920240"/>
            <a:ext cx="201168" cy="20116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212848"/>
            <a:ext cx="1664208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0096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04288"/>
            <a:ext cx="1481328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0428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" y="3163824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4553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data + EDA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3566160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5478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3968496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9502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GB model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79192" y="1920240"/>
            <a:ext cx="201168" cy="20116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24" name="Shape 22"/>
          <p:cNvSpPr/>
          <p:nvPr/>
        </p:nvSpPr>
        <p:spPr>
          <a:xfrm>
            <a:off x="2084832" y="2212848"/>
            <a:ext cx="1664208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0096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2304288"/>
            <a:ext cx="1481328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26" name="Text 24"/>
          <p:cNvSpPr/>
          <p:nvPr/>
        </p:nvSpPr>
        <p:spPr>
          <a:xfrm>
            <a:off x="2176272" y="230428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76272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76272" y="27980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31136" y="3163824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0" name="Text 28"/>
          <p:cNvSpPr/>
          <p:nvPr/>
        </p:nvSpPr>
        <p:spPr>
          <a:xfrm>
            <a:off x="2340864" y="314553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GB model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31136" y="3566160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2" name="Text 30"/>
          <p:cNvSpPr/>
          <p:nvPr/>
        </p:nvSpPr>
        <p:spPr>
          <a:xfrm>
            <a:off x="2340864" y="35478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GB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31136" y="3968496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4" name="Text 32"/>
          <p:cNvSpPr/>
          <p:nvPr/>
        </p:nvSpPr>
        <p:spPr>
          <a:xfrm>
            <a:off x="2340864" y="39502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98264" y="1920240"/>
            <a:ext cx="201168" cy="201168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6" name="Shape 34"/>
          <p:cNvSpPr/>
          <p:nvPr/>
        </p:nvSpPr>
        <p:spPr>
          <a:xfrm>
            <a:off x="3803904" y="2212848"/>
            <a:ext cx="1664208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0096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5344" y="2304288"/>
            <a:ext cx="1481328" cy="237744"/>
          </a:xfrm>
          <a:prstGeom prst="roundRect">
            <a:avLst>
              <a:gd name="adj" fmla="val 15385"/>
            </a:avLst>
          </a:prstGeom>
          <a:solidFill>
            <a:srgbClr val="009688"/>
          </a:solidFill>
          <a:ln/>
        </p:spPr>
      </p:sp>
      <p:sp>
        <p:nvSpPr>
          <p:cNvPr id="38" name="Text 36"/>
          <p:cNvSpPr/>
          <p:nvPr/>
        </p:nvSpPr>
        <p:spPr>
          <a:xfrm>
            <a:off x="3895344" y="230428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5344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9–10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95344" y="27980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Agent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50208" y="3163824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2" name="Text 40"/>
          <p:cNvSpPr/>
          <p:nvPr/>
        </p:nvSpPr>
        <p:spPr>
          <a:xfrm>
            <a:off x="4059936" y="314553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environment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50208" y="3566160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4" name="Text 42"/>
          <p:cNvSpPr/>
          <p:nvPr/>
        </p:nvSpPr>
        <p:spPr>
          <a:xfrm>
            <a:off x="4059936" y="35478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(100K)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950208" y="3968496"/>
            <a:ext cx="45720" cy="201168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6" name="Text 44"/>
          <p:cNvSpPr/>
          <p:nvPr/>
        </p:nvSpPr>
        <p:spPr>
          <a:xfrm>
            <a:off x="4059936" y="39502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17336" y="1920240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8" name="Shape 46"/>
          <p:cNvSpPr/>
          <p:nvPr/>
        </p:nvSpPr>
        <p:spPr>
          <a:xfrm>
            <a:off x="5522976" y="2212848"/>
            <a:ext cx="1664208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E651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14416" y="2304288"/>
            <a:ext cx="1481328" cy="237744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/>
        </p:spPr>
      </p:sp>
      <p:sp>
        <p:nvSpPr>
          <p:cNvPr id="50" name="Text 48"/>
          <p:cNvSpPr/>
          <p:nvPr/>
        </p:nvSpPr>
        <p:spPr>
          <a:xfrm>
            <a:off x="5614416" y="230428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14416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11–14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14416" y="27980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0" y="3163824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4" name="Text 52"/>
          <p:cNvSpPr/>
          <p:nvPr/>
        </p:nvSpPr>
        <p:spPr>
          <a:xfrm>
            <a:off x="5779008" y="314553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+ Wind model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0" y="3566160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6" name="Text 54"/>
          <p:cNvSpPr/>
          <p:nvPr/>
        </p:nvSpPr>
        <p:spPr>
          <a:xfrm>
            <a:off x="5779008" y="35478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BESS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669280" y="3968496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8" name="Text 56"/>
          <p:cNvSpPr/>
          <p:nvPr/>
        </p:nvSpPr>
        <p:spPr>
          <a:xfrm>
            <a:off x="5779008" y="39502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connection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36408" y="1920240"/>
            <a:ext cx="201168" cy="201168"/>
          </a:xfrm>
          <a:prstGeom prst="ellipse">
            <a:avLst/>
          </a:prstGeom>
          <a:solidFill>
            <a:srgbClr val="ECEFF1"/>
          </a:solidFill>
          <a:ln/>
        </p:spPr>
      </p:sp>
      <p:sp>
        <p:nvSpPr>
          <p:cNvPr id="60" name="Shape 58"/>
          <p:cNvSpPr/>
          <p:nvPr/>
        </p:nvSpPr>
        <p:spPr>
          <a:xfrm>
            <a:off x="7242048" y="2212848"/>
            <a:ext cx="1664208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33488" y="2304288"/>
            <a:ext cx="1481328" cy="237744"/>
          </a:xfrm>
          <a:prstGeom prst="roundRect">
            <a:avLst>
              <a:gd name="adj" fmla="val 15385"/>
            </a:avLst>
          </a:prstGeom>
          <a:solidFill>
            <a:srgbClr val="ECEFF1"/>
          </a:solidFill>
          <a:ln/>
        </p:spPr>
      </p:sp>
      <p:sp>
        <p:nvSpPr>
          <p:cNvPr id="62" name="Text 60"/>
          <p:cNvSpPr/>
          <p:nvPr/>
        </p:nvSpPr>
        <p:spPr>
          <a:xfrm>
            <a:off x="7333488" y="230428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33488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15–20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333488" y="27980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Report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388352" y="3163824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66" name="Text 64"/>
          <p:cNvSpPr/>
          <p:nvPr/>
        </p:nvSpPr>
        <p:spPr>
          <a:xfrm>
            <a:off x="7498080" y="314553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88352" y="3566160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68" name="Text 66"/>
          <p:cNvSpPr/>
          <p:nvPr/>
        </p:nvSpPr>
        <p:spPr>
          <a:xfrm>
            <a:off x="7498080" y="35478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388352" y="3968496"/>
            <a:ext cx="45720" cy="20116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0" name="Text 68"/>
          <p:cNvSpPr/>
          <p:nvPr/>
        </p:nvSpPr>
        <p:spPr>
          <a:xfrm>
            <a:off x="7498080" y="39502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783080" y="482803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Data Ready ✓  |  M2: ML Models ✓  |  M3: DRL Agent ✓  |  M4: Simulink (In Progress)  |  M5: Full Validation (Review 3)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2860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0096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28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0F9F8"/>
          </a:solidFill>
          <a:ln w="1016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59536"/>
            <a:ext cx="192024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456639"/>
            <a:ext cx="19202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R² 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59152" y="804672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0F9F8"/>
          </a:solidFill>
          <a:ln w="1016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859536"/>
            <a:ext cx="192024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59152" y="1456639"/>
            <a:ext cx="19202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R² 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43984" y="804672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0F9F8"/>
          </a:solidFill>
          <a:ln w="10160">
            <a:solidFill>
              <a:srgbClr val="00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859536"/>
            <a:ext cx="192024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43984" y="1456639"/>
            <a:ext cx="19202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R² 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28816" y="804672"/>
            <a:ext cx="2359152" cy="1051560"/>
          </a:xfrm>
          <a:prstGeom prst="roundRect">
            <a:avLst>
              <a:gd name="adj" fmla="val 6087"/>
            </a:avLst>
          </a:prstGeom>
          <a:solidFill>
            <a:srgbClr val="F0F9F8"/>
          </a:solidFill>
          <a:ln w="10160">
            <a:solidFill>
              <a:srgbClr val="0096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859536"/>
            <a:ext cx="2359152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Cost 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28816" y="1456639"/>
            <a:ext cx="2359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DRL Agent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2743200" cy="2633472"/>
          </a:xfrm>
          <a:prstGeom prst="roundRect">
            <a:avLst>
              <a:gd name="adj" fmla="val 2431"/>
            </a:avLst>
          </a:prstGeom>
          <a:solidFill>
            <a:srgbClr val="ECEFF1"/>
          </a:solidFill>
          <a:ln w="12700">
            <a:solidFill>
              <a:srgbClr val="B0BEC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74320" y="2766974"/>
            <a:ext cx="2743200" cy="9217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368869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eda_analysis.png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294388"/>
            <a:ext cx="2743200" cy="474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9 chart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240280"/>
            <a:ext cx="2743200" cy="2633472"/>
          </a:xfrm>
          <a:prstGeom prst="roundRect">
            <a:avLst>
              <a:gd name="adj" fmla="val 2431"/>
            </a:avLst>
          </a:prstGeom>
          <a:solidFill>
            <a:srgbClr val="ECEFF1"/>
          </a:solidFill>
          <a:ln w="12700">
            <a:solidFill>
              <a:srgbClr val="B0BEC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200400" y="2766974"/>
            <a:ext cx="2743200" cy="9217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0" y="368869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solar_results.png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4294388"/>
            <a:ext cx="2743200" cy="474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GB forecasting results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240280"/>
            <a:ext cx="2743200" cy="2633472"/>
          </a:xfrm>
          <a:prstGeom prst="roundRect">
            <a:avLst>
              <a:gd name="adj" fmla="val 2431"/>
            </a:avLst>
          </a:prstGeom>
          <a:solidFill>
            <a:srgbClr val="ECEFF1"/>
          </a:solidFill>
          <a:ln w="12700">
            <a:solidFill>
              <a:srgbClr val="B0BEC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126480" y="2766974"/>
            <a:ext cx="2743200" cy="9217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368869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ppo_real_results.png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294388"/>
            <a:ext cx="2743200" cy="474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training results</a:t>
            </a:r>
            <a:endParaRPr lang="en-US" sz="8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91F2D8-BF56-C33B-7930-DC5938CEA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203" y="2067951"/>
            <a:ext cx="2907872" cy="2947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DC004A-F710-FACA-FA48-4DEFCA5F0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067951"/>
            <a:ext cx="2864181" cy="29470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ECC821-9166-14B6-D92E-025E897E9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353" y="2067951"/>
            <a:ext cx="2907872" cy="28469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9F8"/>
          </a:solidFill>
          <a:ln w="889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has successfully built a complete ML pipeline for intelligent smart microgrid energy management using real NASA POWER 2025 data from Vellore, Tamil Nadu — with measurable, validated results across forecasting, optimization, and physical simulation.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37360"/>
            <a:ext cx="2779776" cy="36576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28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Solar Forecasting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76272" y="1828800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0096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828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0.9969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215798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19-feature Gradient Boosting model on real NASA data — near-perfect prediction 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737360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737360"/>
            <a:ext cx="2779776" cy="3657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1828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 Forecasting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828800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1B2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828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0.9575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28416" y="215798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MAPE=5.31%, RMSE=0.31 m/s — robust wind speed and power prediction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737360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737360"/>
            <a:ext cx="2779776" cy="36576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1828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Load Forecasting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5008" y="1828800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4A148C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182880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0.8960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72784" y="215798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Tamil Nadu seasonal AC load, weekday/weekend, peak hour patterns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18688"/>
            <a:ext cx="2779776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310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PPO DRL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76272" y="3310128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/>
        </p:spPr>
      </p:sp>
      <p:sp>
        <p:nvSpPr>
          <p:cNvPr id="30" name="Text 28"/>
          <p:cNvSpPr/>
          <p:nvPr/>
        </p:nvSpPr>
        <p:spPr>
          <a:xfrm>
            <a:off x="2176272" y="33101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Cost 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3639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neural network trained — 100K timesteps, battery + grid management decisions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18688" y="3218688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3218688"/>
            <a:ext cx="2779776" cy="36576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4" name="Text 32"/>
          <p:cNvSpPr/>
          <p:nvPr/>
        </p:nvSpPr>
        <p:spPr>
          <a:xfrm>
            <a:off x="3328416" y="3310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Simulink 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310128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009688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3101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28416" y="3639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 — Solar PV, Wind Turbine, Battery BESS, Grid connection simulated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63056" y="3218688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3056" y="3218688"/>
            <a:ext cx="2779776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3310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3 Goals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65008" y="3310128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546E7A"/>
          </a:solidFill>
          <a:ln/>
        </p:spPr>
      </p:sp>
      <p:sp>
        <p:nvSpPr>
          <p:cNvPr id="42" name="Text 40"/>
          <p:cNvSpPr/>
          <p:nvPr/>
        </p:nvSpPr>
        <p:spPr>
          <a:xfrm>
            <a:off x="8065008" y="3310128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Steps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72784" y="3639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PPO training, Simulink-Python integration, economic analysis, final report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645920" cy="5486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9611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9611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93268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Singh, A. R., et al. (2024). "ML-based energy management in grid-connected microgrids." Scientific Reports, 14, 19207.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1907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5564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75564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Joshi, A., et al. (2023). "Survey on AI and ML techniques for microgrid EMS." IEEE/CAA J. Autom. Sinica, 10(7), 1513-1529.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786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5786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Spiliopoulos, N., et al. (2025). "Smart Microgrid with DRL for Sustainable Energy Management." Energies, 18(5), 1157.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6499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0156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0156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Eyimaya, S. E., et al. (2025). "Optimization of PV &amp; Battery using LSTM Networks." Energies, 18(14), 3676.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18795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24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Mahmoudabadi, N. D., et al. (2025). "Energy management of microgrid coalitions with ML." AIP Advances, 15(4), 045323.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89611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89611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93268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93792" y="93268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Silva-Rodriguez, J., et al. (2024). "LSTM-Based Net Load Forecasting for Wind+Solar Microgrids." arXiv preprint.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171907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171907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175564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93792" y="175564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Schulman, J., et al. (2017). "Proximal Policy Optimization Algorithms." arXiv:1707.06347.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36592" y="254203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254203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5786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93792" y="25786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Raffin, A., et al. (2021). "Stable-Baselines3: Reliable Reinforcement Learning Implementations." JMLR 22(268).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36499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336499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340156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93792" y="340156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Project. (2025). Prediction Of Worldwide Energy Resources. https://power.larc.nasa.gov/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36592" y="4187952"/>
            <a:ext cx="42062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6592" y="4187952"/>
            <a:ext cx="45720" cy="69494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422452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93792" y="422452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MathWorks. (2024). MATLAB R2024b Simulink Documentation. mathworks.com/products/simulink.html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1584</Words>
  <Application>Microsoft Office PowerPoint</Application>
  <PresentationFormat>On-screen Show (16:9)</PresentationFormat>
  <Paragraphs>318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Smart Microgrid EMS - Review 2</dc:title>
  <dc:subject>PptxGenJS Presentation</dc:subject>
  <dc:creator>PptxGenJS</dc:creator>
  <cp:lastModifiedBy>dhruv bansal</cp:lastModifiedBy>
  <cp:revision>2</cp:revision>
  <dcterms:created xsi:type="dcterms:W3CDTF">2026-03-19T08:22:54Z</dcterms:created>
  <dcterms:modified xsi:type="dcterms:W3CDTF">2026-03-19T17:41:33Z</dcterms:modified>
</cp:coreProperties>
</file>